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1B2D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F1B2D"/>
                </a:solidFill>
                <a:latin typeface="Calibri"/>
              </a:rPr>
              <a:t>Estimated bill of materials (Rs)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 (Rs)</c:v>
                </c:pt>
              </c:strCache>
            </c:strRef>
          </c:tx>
          <c:spPr>
            <a:solidFill>
              <a:srgbClr val="F26B2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Raspberry Pi 4</c:v>
                  </c:pt>
                  <c:pt idx="1">
                    <c:v>Camera module</c:v>
                  </c:pt>
                  <c:pt idx="2">
                    <c:v>LED ring light</c:v>
                  </c:pt>
                  <c:pt idx="3">
                    <c:v>Servo + IR + buzzer</c:v>
                  </c:pt>
                  <c:pt idx="4">
                    <c:v>Box and wiring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4500</c:v>
                </c:pt>
                <c:pt idx="1">
                  <c:v>800</c:v>
                </c:pt>
                <c:pt idx="2">
                  <c:v>400</c:v>
                </c:pt>
                <c:pt idx="3">
                  <c:v>350</c:v>
                </c:pt>
                <c:pt idx="4">
                  <c:v>950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4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6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858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VISHWAKARMA AWARDS 2026  ·  THEME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InspectAI: Low-Cost Defect Inspection for MSMEs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surface defect detection on an edge device (Raspberry Pi)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8404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 1:  Lipi Bagarti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60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 2:  Kartik Ranjan Singh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394960" y="868680"/>
            <a:ext cx="3383280" cy="3383280"/>
          </a:xfrm>
          <a:prstGeom prst="ellipse">
            <a:avLst/>
          </a:prstGeom>
          <a:solidFill>
            <a:srgbClr val="16263F"/>
          </a:solidFill>
          <a:ln w="19050">
            <a:solidFill>
              <a:srgbClr val="1C2E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0" y="1417320"/>
            <a:ext cx="2286000" cy="2286000"/>
          </a:xfrm>
          <a:prstGeom prst="ellipse">
            <a:avLst/>
          </a:prstGeom>
          <a:solidFill>
            <a:srgbClr val="1C2E4A"/>
          </a:solidFill>
          <a:ln w="12700">
            <a:solidFill>
              <a:srgbClr val="1C2E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55080" y="1828800"/>
            <a:ext cx="1463040" cy="1463040"/>
          </a:xfrm>
          <a:prstGeom prst="ellipse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219456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TITLE OF THE PROJECT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/ PRODUCT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66420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InspectAI: Low-Cost Edge-AI Defect Inspection System for MSMEs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031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30428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3: AI in Hardware &amp; Manufacturing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743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SUB-THEME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94436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&amp; Smart Quality Inspection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3832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ALIGNMENT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5844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8 (Decent Work and Economic Growth), SDG 9 (Industry, Innovation and Infrastructure)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402336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ANRF ALIGNMENT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22452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Manufacturing, AI &amp; Robotics, Industry 4.0/5.0 Technologies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852160" y="1371600"/>
            <a:ext cx="28346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1600200"/>
            <a:ext cx="594360" cy="594360"/>
          </a:xfrm>
          <a:prstGeom prst="ellipse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9350" y="1748790"/>
            <a:ext cx="297180" cy="29718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6080760" y="23317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 1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6080760" y="2560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Lipi Bagarti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5852160" y="3108960"/>
            <a:ext cx="28346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080760" y="3337560"/>
            <a:ext cx="594360" cy="594360"/>
          </a:xfrm>
          <a:prstGeom prst="ellipse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9350" y="3486150"/>
            <a:ext cx="297180" cy="29718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080760" y="40690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 2</a:t>
            </a:r>
            <a:endParaRPr lang="en-US" sz="1050" dirty="0"/>
          </a:p>
        </p:txBody>
      </p:sp>
      <p:sp>
        <p:nvSpPr>
          <p:cNvPr id="24" name="Text 20"/>
          <p:cNvSpPr txBox="1"/>
          <p:nvPr/>
        </p:nvSpPr>
        <p:spPr>
          <a:xfrm>
            <a:off x="6080760" y="4297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Kartik Ranjan Singh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PROBLEM STATEMENT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45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IN ONE STATEMENT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5740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factories inspect parts by eye — slow, inconsistent and unrecorded — because commercial machine-vision systems cost lakhs of rupees.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0" y="1499616"/>
            <a:ext cx="475488" cy="475488"/>
          </a:xfrm>
          <a:prstGeom prst="ellipse">
            <a:avLst/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5192" y="1618488"/>
            <a:ext cx="237744" cy="23774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532120" y="14630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and tiring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532120" y="17373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eyes tire; defects slip through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663440" y="2221992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46320" y="2350008"/>
            <a:ext cx="475488" cy="475488"/>
          </a:xfrm>
          <a:prstGeom prst="ellipse">
            <a:avLst/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2468880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532120" y="23134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5532120" y="25877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vary from inspector to inspector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663440" y="3072384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846320" y="3200400"/>
            <a:ext cx="475488" cy="475488"/>
          </a:xfrm>
          <a:prstGeom prst="ellipse">
            <a:avLst/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5192" y="3319272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532120" y="316382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trail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5532120" y="343814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 are not logged or analysed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4663440" y="3922776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846320" y="4050792"/>
            <a:ext cx="475488" cy="475488"/>
          </a:xfrm>
          <a:prstGeom prst="ellipse">
            <a:avLst/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4169664"/>
            <a:ext cx="237744" cy="23774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532120" y="401421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costly to automate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5532120" y="42885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systems are priced for big plants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SOLUTION PROPOSED  ·  OVERVIEW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AI inspection box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463040" cy="1874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508760"/>
            <a:ext cx="548640" cy="548640"/>
          </a:xfrm>
          <a:prstGeom prst="ellipse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6459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1945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part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2487168"/>
            <a:ext cx="1243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enters the inspection box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1965960" y="2176272"/>
            <a:ext cx="155448" cy="219456"/>
          </a:xfrm>
          <a:prstGeom prst="rightArrow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148840" y="1371600"/>
            <a:ext cx="1463040" cy="1874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606040" y="1508760"/>
            <a:ext cx="548640" cy="548640"/>
          </a:xfrm>
          <a:prstGeom prst="ellipse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64592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240280" y="21945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2258568" y="2487168"/>
            <a:ext cx="1243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LED light + camera take an image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3657600" y="2176272"/>
            <a:ext cx="155448" cy="219456"/>
          </a:xfrm>
          <a:prstGeom prst="rightArrow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840480" y="1371600"/>
            <a:ext cx="1463040" cy="1874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297680" y="1508760"/>
            <a:ext cx="548640" cy="548640"/>
          </a:xfrm>
          <a:prstGeom prst="ellipse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64592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3931920" y="21945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3950208" y="2487168"/>
            <a:ext cx="1243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model runs on the Raspberry Pi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349240" y="2176272"/>
            <a:ext cx="155448" cy="219456"/>
          </a:xfrm>
          <a:prstGeom prst="rightArrow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532120" y="1371600"/>
            <a:ext cx="1463040" cy="1874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989320" y="1508760"/>
            <a:ext cx="548640" cy="548640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645920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623560" y="21945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5641848" y="2487168"/>
            <a:ext cx="1243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OK, DEFECT or CHECK, with a confidence score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7040880" y="2176272"/>
            <a:ext cx="155448" cy="219456"/>
          </a:xfrm>
          <a:prstGeom prst="rightArrow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7223760" y="1371600"/>
            <a:ext cx="1463040" cy="1874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680960" y="1508760"/>
            <a:ext cx="548640" cy="548640"/>
          </a:xfrm>
          <a:prstGeom prst="ellipse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0" y="1645920"/>
            <a:ext cx="274320" cy="27432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7315200" y="21945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400" dirty="0"/>
          </a:p>
        </p:txBody>
      </p:sp>
      <p:sp>
        <p:nvSpPr>
          <p:cNvPr id="32" name="Text 25"/>
          <p:cNvSpPr txBox="1"/>
          <p:nvPr/>
        </p:nvSpPr>
        <p:spPr>
          <a:xfrm>
            <a:off x="7333488" y="2487168"/>
            <a:ext cx="1243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rejects the part; dashboard logs it</a:t>
            </a:r>
            <a:endParaRPr lang="en-US" sz="1150" dirty="0"/>
          </a:p>
        </p:txBody>
      </p:sp>
      <p:sp>
        <p:nvSpPr>
          <p:cNvPr id="33" name="Shape 26"/>
          <p:cNvSpPr/>
          <p:nvPr/>
        </p:nvSpPr>
        <p:spPr>
          <a:xfrm>
            <a:off x="457200" y="3520440"/>
            <a:ext cx="2560320" cy="1097280"/>
          </a:xfrm>
          <a:prstGeom prst="roundRect">
            <a:avLst>
              <a:gd name="adj" fmla="val 666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" y="3657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AI, works offline</a:t>
            </a:r>
            <a:endParaRPr lang="en-US" sz="1400" dirty="0"/>
          </a:p>
        </p:txBody>
      </p:sp>
      <p:sp>
        <p:nvSpPr>
          <p:cNvPr id="35" name="Text 28"/>
          <p:cNvSpPr txBox="1"/>
          <p:nvPr/>
        </p:nvSpPr>
        <p:spPr>
          <a:xfrm>
            <a:off x="640080" y="400507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 or internet needed on the shop floor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3291840" y="3520440"/>
            <a:ext cx="2560320" cy="1097280"/>
          </a:xfrm>
          <a:prstGeom prst="roundRect">
            <a:avLst>
              <a:gd name="adj" fmla="val 666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3474720" y="3657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decisions</a:t>
            </a:r>
            <a:endParaRPr lang="en-US" sz="1400" dirty="0"/>
          </a:p>
        </p:txBody>
      </p:sp>
      <p:sp>
        <p:nvSpPr>
          <p:cNvPr id="38" name="Text 31"/>
          <p:cNvSpPr txBox="1"/>
          <p:nvPr/>
        </p:nvSpPr>
        <p:spPr>
          <a:xfrm>
            <a:off x="3474720" y="400507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5+ frames per second on a Raspberry Pi</a:t>
            </a:r>
            <a:endParaRPr lang="en-US" sz="1200" dirty="0"/>
          </a:p>
        </p:txBody>
      </p:sp>
      <p:sp>
        <p:nvSpPr>
          <p:cNvPr id="39" name="Shape 32"/>
          <p:cNvSpPr/>
          <p:nvPr/>
        </p:nvSpPr>
        <p:spPr>
          <a:xfrm>
            <a:off x="6126480" y="3520440"/>
            <a:ext cx="2560320" cy="1097280"/>
          </a:xfrm>
          <a:prstGeom prst="roundRect">
            <a:avLst>
              <a:gd name="adj" fmla="val 666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309360" y="3657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count and defect log</a:t>
            </a:r>
            <a:endParaRPr lang="en-US" sz="1400" dirty="0"/>
          </a:p>
        </p:txBody>
      </p:sp>
      <p:sp>
        <p:nvSpPr>
          <p:cNvPr id="41" name="Text 34"/>
          <p:cNvSpPr txBox="1"/>
          <p:nvPr/>
        </p:nvSpPr>
        <p:spPr>
          <a:xfrm>
            <a:off x="6309360" y="400507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dashboard: OK / defect count, type and time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SOLUTION PROPOSED  · 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560320" cy="32918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1C2E4A"/>
          </a:solidFill>
          <a:ln w="12700">
            <a:solidFill>
              <a:srgbClr val="1C2E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577340"/>
            <a:ext cx="228600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34440" y="13716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layer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240280"/>
            <a:ext cx="21488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4 (edge compute)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camera or USB webcam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ring light, enclosed box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sensor for part trigger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diverter + buzzer / LEDs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044952" y="2880360"/>
            <a:ext cx="219456" cy="274320"/>
          </a:xfrm>
          <a:prstGeom prst="rightArrow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91840" y="1371600"/>
            <a:ext cx="2560320" cy="32918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91840" y="137160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2A4470"/>
          </a:solidFill>
          <a:ln w="12700">
            <a:solidFill>
              <a:srgbClr val="2A447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74720" y="146304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9020" y="1577340"/>
            <a:ext cx="228600" cy="2286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069080" y="13716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layer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3520440" y="2240280"/>
            <a:ext cx="21488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OpenCV capture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pre-processing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Lite inference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Logic: OK / DEFECT / CHECK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control of servo, alerts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879592" y="2880360"/>
            <a:ext cx="219456" cy="274320"/>
          </a:xfrm>
          <a:prstGeom prst="rightArrow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126480" y="1371600"/>
            <a:ext cx="2560320" cy="32918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126480" y="137160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309360" y="146304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660" y="1577340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903720" y="13716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and output layer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6355080" y="2240280"/>
            <a:ext cx="21488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log of every part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Flask web dashboard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Counts, defect types, trends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 for reports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Hindi / Odia voice alert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SOLUTION PROPOSED  ·  AI / ML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models, one decision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776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5361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Supervised classifier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84708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us which defect it is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240280"/>
            <a:ext cx="35204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or YOLOv8n with transfer learning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NEU-DET (6 classes, 1,800 images) plus our own photos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Classes: crazing, inclusion, patches, pitted surface, rolled-in scale, scratches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Exported to TensorFlow Lite for the Pi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09160" y="1371600"/>
            <a:ext cx="3977640" cy="3291840"/>
          </a:xfrm>
          <a:prstGeom prst="roundRect">
            <a:avLst>
              <a:gd name="adj" fmla="val 2222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7760" y="15361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Anomaly detection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184708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differentiator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2240280"/>
            <a:ext cx="35204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 or PatchCore trained on good parts only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score = how far a part is from "normal"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new defect types never seen in training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for factories that have no defect data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SOLUTION PROPOSED  ·  PIPELINE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data to decision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234440" cy="777240"/>
          </a:xfrm>
          <a:prstGeom prst="roundRect">
            <a:avLst>
              <a:gd name="adj" fmla="val 9412"/>
            </a:avLst>
          </a:prstGeom>
          <a:solidFill>
            <a:srgbClr val="1C2E4A"/>
          </a:solidFill>
          <a:ln w="12700">
            <a:solidFill>
              <a:srgbClr val="1C2E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data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56232" y="1371600"/>
            <a:ext cx="1234440" cy="777240"/>
          </a:xfrm>
          <a:prstGeom prst="roundRect">
            <a:avLst>
              <a:gd name="adj" fmla="val 9412"/>
            </a:avLst>
          </a:prstGeom>
          <a:solidFill>
            <a:srgbClr val="1C2E4A"/>
          </a:solidFill>
          <a:ln w="12700">
            <a:solidFill>
              <a:srgbClr val="1C2E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947672" y="14173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947672" y="164592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55264" y="1371600"/>
            <a:ext cx="1234440" cy="777240"/>
          </a:xfrm>
          <a:prstGeom prst="roundRect">
            <a:avLst>
              <a:gd name="adj" fmla="val 9412"/>
            </a:avLst>
          </a:prstGeom>
          <a:solidFill>
            <a:srgbClr val="1C2E4A"/>
          </a:solidFill>
          <a:ln w="12700">
            <a:solidFill>
              <a:srgbClr val="1C2E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46704" y="14173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346704" y="164592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54296" y="1371600"/>
            <a:ext cx="1234440" cy="777240"/>
          </a:xfrm>
          <a:prstGeom prst="roundRect">
            <a:avLst>
              <a:gd name="adj" fmla="val 9412"/>
            </a:avLst>
          </a:prstGeom>
          <a:solidFill>
            <a:srgbClr val="1C2E4A"/>
          </a:solidFill>
          <a:ln w="12700">
            <a:solidFill>
              <a:srgbClr val="1C2E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45736" y="14173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745736" y="164592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53328" y="1371600"/>
            <a:ext cx="1234440" cy="777240"/>
          </a:xfrm>
          <a:prstGeom prst="roundRect">
            <a:avLst>
              <a:gd name="adj" fmla="val 9412"/>
            </a:avLst>
          </a:prstGeom>
          <a:solidFill>
            <a:srgbClr val="1C2E4A"/>
          </a:solidFill>
          <a:ln w="12700">
            <a:solidFill>
              <a:srgbClr val="1C2E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44768" y="14173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144768" y="164592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TFLite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452360" y="1371600"/>
            <a:ext cx="1234440" cy="777240"/>
          </a:xfrm>
          <a:prstGeom prst="roundRect">
            <a:avLst>
              <a:gd name="adj" fmla="val 9412"/>
            </a:avLst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43800" y="14173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543800" y="164592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 Pi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LOGIC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51760"/>
          <a:ext cx="48463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5603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Confident DEFECT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Servo rejects part, event logged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Uncertain (between thresholds)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Routed to a human for manual check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Confident 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 passes, count logged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1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5577840" y="2377440"/>
            <a:ext cx="31089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5760720" y="2514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EVALUATE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5760720" y="2834640"/>
            <a:ext cx="2743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validation / test split of 70 / 15 / 15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recall, F1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False-reject rate and inference time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Re-test on our own photos under changed lighting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SOLUTION PROPOSED  ·  HARDWARE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Low-cost by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9377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548640" y="1463040"/>
          <a:ext cx="475488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669280" y="1371600"/>
            <a:ext cx="3017520" cy="3291840"/>
          </a:xfrm>
          <a:prstGeom prst="roundRect">
            <a:avLst>
              <a:gd name="adj" fmla="val 242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97880" y="16916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26B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 Rs 7,000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5897880" y="2377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prototype cost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897880" y="29260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machine-vision systems typically run into lakhs of rupees.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897880" y="39319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are approximate and will be confirmed at purchase.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IMPLEMENTATION PLAN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benefits, what we deliver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560320" cy="32918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54480"/>
            <a:ext cx="502920" cy="502920"/>
          </a:xfrm>
          <a:prstGeom prst="ellipse">
            <a:avLst/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68021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554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beneficiaries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286000"/>
            <a:ext cx="2148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MSME workshops, small foundries and fabrication units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Quality-control inspectors and supervisors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manufacturers who cannot afford lakh-range vision systems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91840" y="1371600"/>
            <a:ext cx="2560320" cy="32918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74720" y="1554480"/>
            <a:ext cx="502920" cy="502920"/>
          </a:xfrm>
          <a:prstGeom prst="ellipse">
            <a:avLst/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450" y="168021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114800" y="1554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3520440" y="2286000"/>
            <a:ext cx="2148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InspectAI prototype (box, camera, Pi, servo)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model files and dataset notes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dashboard and CSV reports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report and setup guide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26480" y="1371600"/>
            <a:ext cx="2560320" cy="32918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09360" y="1554480"/>
            <a:ext cx="502920" cy="502920"/>
          </a:xfrm>
          <a:prstGeom prst="ellipse">
            <a:avLst/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5090" y="168021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949440" y="1554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6355080" y="2286000"/>
            <a:ext cx="2148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more consistent inspection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defective parts reaching customers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defect data trail for process improvement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inspection cost for small units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IMPLEMENTATION PLAN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plan and real-world pilot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9377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00200"/>
            <a:ext cx="502920" cy="502920"/>
          </a:xfrm>
          <a:prstGeom prst="ellipse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5544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baseline model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83794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NEU-DET, train the classifier, set up the anomaly model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2377440"/>
            <a:ext cx="502920" cy="502920"/>
          </a:xfrm>
          <a:prstGeom prst="ellipse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3317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+ our own photos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261518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light box, mount the camera, collect 100-200 real images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3154680"/>
            <a:ext cx="502920" cy="502920"/>
          </a:xfrm>
          <a:prstGeom prst="ellipse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31089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 the Pi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339242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TFLite, wire IR trigger, servo diverter and dashboard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" y="3931920"/>
            <a:ext cx="502920" cy="502920"/>
          </a:xfrm>
          <a:prstGeom prst="ellipse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38862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+ report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416966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accuracy, false-reject rate and speed; prepare demo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669280" y="1371600"/>
            <a:ext cx="3017520" cy="3291840"/>
          </a:xfrm>
          <a:prstGeom prst="roundRect">
            <a:avLst>
              <a:gd name="adj" fmla="val 242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897880" y="15544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PILOT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897880" y="19202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26B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6309360" y="19385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partner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309360" y="223113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 foundry or fabrication unit for a trial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897880" y="281635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26B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6309360" y="28346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side by side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309360" y="31272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InspectAI with manual inspection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897880" y="3712464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26B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6309360" y="37307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and hand over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309360" y="4023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thresholds, train staff, collect feedback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IMPLEMENTATION PLAN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and responsibilities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7764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54480"/>
            <a:ext cx="594360" cy="594360"/>
          </a:xfrm>
          <a:prstGeom prst="ellipse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390" y="1703070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6002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 1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18288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Lipi Bagarti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60604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preparation and augmentation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(classifier + anomaly)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and threshold tuning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709160" y="1371600"/>
            <a:ext cx="397764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37760" y="1554480"/>
            <a:ext cx="594360" cy="594360"/>
          </a:xfrm>
          <a:prstGeom prst="ellipse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350" y="1703070"/>
            <a:ext cx="297180" cy="2971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715000" y="16002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 2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5715000" y="18288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Kartik Ranjan Singh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4983480" y="260604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assembly: box, camera, servo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integration and deployment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and data logging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457200" y="406908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731520" y="406908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by both:  proposal, testing, documentation and the final demo.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SAFETY AND EFFICIENCY ANALYSIS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solution stays safe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776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00200"/>
            <a:ext cx="502920" cy="502920"/>
          </a:xfrm>
          <a:prstGeom prst="ellipse">
            <a:avLst/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72593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490472"/>
            <a:ext cx="2971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Fail-safe by design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176479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 parts go to a human; they are never silently passed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709160" y="1371600"/>
            <a:ext cx="39776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92040" y="1600200"/>
            <a:ext cx="502920" cy="502920"/>
          </a:xfrm>
          <a:prstGeom prst="ellipse">
            <a:avLst/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7770" y="172593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577840" y="1490472"/>
            <a:ext cx="2971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manual handling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5577840" y="176479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automatic diverter sorts rejects, so inspectors touch fewer parts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57200" y="2514600"/>
            <a:ext cx="39776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" y="2743200"/>
            <a:ext cx="502920" cy="502920"/>
          </a:xfrm>
          <a:prstGeom prst="ellipse">
            <a:avLst/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" y="286893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25880" y="2633472"/>
            <a:ext cx="2971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eye strain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1325880" y="290779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verdict replaces hours of staring at surfaces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709160" y="2514600"/>
            <a:ext cx="39776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92040" y="2743200"/>
            <a:ext cx="502920" cy="502920"/>
          </a:xfrm>
          <a:prstGeom prst="ellipse">
            <a:avLst/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7770" y="2868930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577840" y="2633472"/>
            <a:ext cx="2971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Electrically safe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5577840" y="290779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Low-voltage components inside an enclosed box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57200" y="3657600"/>
            <a:ext cx="39776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40080" y="3886200"/>
            <a:ext cx="502920" cy="502920"/>
          </a:xfrm>
          <a:prstGeom prst="ellipse">
            <a:avLst/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810" y="4011930"/>
            <a:ext cx="251460" cy="25146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325880" y="3776472"/>
            <a:ext cx="2971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Guarded moving part</a:t>
            </a:r>
            <a:endParaRPr lang="en-US" sz="1350" dirty="0"/>
          </a:p>
        </p:txBody>
      </p:sp>
      <p:sp>
        <p:nvSpPr>
          <p:cNvPr id="28" name="Text 21"/>
          <p:cNvSpPr txBox="1"/>
          <p:nvPr/>
        </p:nvSpPr>
        <p:spPr>
          <a:xfrm>
            <a:off x="1325880" y="405079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small reject servo moves, kept behind a guard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4709160" y="3657600"/>
            <a:ext cx="39776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892040" y="3886200"/>
            <a:ext cx="502920" cy="502920"/>
          </a:xfrm>
          <a:prstGeom prst="ellipse">
            <a:avLst/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7770" y="4011930"/>
            <a:ext cx="251460" cy="25146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5577840" y="3776472"/>
            <a:ext cx="2971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stays local</a:t>
            </a:r>
            <a:endParaRPr lang="en-US" sz="1350" dirty="0"/>
          </a:p>
        </p:txBody>
      </p:sp>
      <p:sp>
        <p:nvSpPr>
          <p:cNvPr id="33" name="Text 25"/>
          <p:cNvSpPr txBox="1"/>
          <p:nvPr/>
        </p:nvSpPr>
        <p:spPr>
          <a:xfrm>
            <a:off x="5577840" y="405079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are processed and stored on the device, with no cloud upload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SAFETY AND EFFICIENCY ANALYSIS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improves efficiency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5544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6B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 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94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per part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560320" y="137160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60320" y="15544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6B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5+ FPS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2651760" y="2194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Raspberry Pi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63440" y="15544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6B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90%+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2194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accuracy on test set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766560" y="137160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66560" y="15544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6B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~Rs 7k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2194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cost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8803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TARGETS, TO BE VALIDATED IN TESTING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200400"/>
            <a:ext cx="82296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31520" y="33832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reject diversion replaces manual sorting of good and bad parts (material handling)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decision quality on every part, all shift, with no fatigue drop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4709160" y="338328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defect log lets supervisors fix the process sooner, so fewer bad batches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Inspectors are freed for higher-value tasks such as root-cause checks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SCALABILITY AND FUTURE DEVELOPMENT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 in three phases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56032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2560320" cy="548640"/>
          </a:xfrm>
          <a:prstGeom prst="roundRect">
            <a:avLst>
              <a:gd name="adj" fmla="val 13333"/>
            </a:avLst>
          </a:prstGeom>
          <a:solidFill>
            <a:srgbClr val="1C2E4A"/>
          </a:solidFill>
          <a:ln w="12700">
            <a:solidFill>
              <a:srgbClr val="1C2E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3716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1: Prototype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103120"/>
            <a:ext cx="2148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part type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Hand-fed tray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+ camera + reject servo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044952" y="2377440"/>
            <a:ext cx="219456" cy="274320"/>
          </a:xfrm>
          <a:prstGeom prst="rightArrow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1371600"/>
            <a:ext cx="256032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371600"/>
            <a:ext cx="2560320" cy="548640"/>
          </a:xfrm>
          <a:prstGeom prst="roundRect">
            <a:avLst>
              <a:gd name="adj" fmla="val 13333"/>
            </a:avLst>
          </a:prstGeom>
          <a:solidFill>
            <a:srgbClr val="2A4470"/>
          </a:solidFill>
          <a:ln w="12700">
            <a:solidFill>
              <a:srgbClr val="2A447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91840" y="13716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2: Shop floor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103120"/>
            <a:ext cx="2148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Motorised conveyor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models for new parts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camera angles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879592" y="2377440"/>
            <a:ext cx="219456" cy="274320"/>
          </a:xfrm>
          <a:prstGeom prst="rightArrow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1371600"/>
            <a:ext cx="256032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371600"/>
            <a:ext cx="2560320" cy="548640"/>
          </a:xfrm>
          <a:prstGeom prst="roundRect">
            <a:avLst>
              <a:gd name="adj" fmla="val 13333"/>
            </a:avLst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26480" y="13716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3: Platform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2103120"/>
            <a:ext cx="2148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dashboard and trends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/ Odia voice alerts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with predictive maintenance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7947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TO NEW USE CASES BY RETRAINING THE MODEL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4069080"/>
            <a:ext cx="15544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530352" y="4069080"/>
            <a:ext cx="1408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solder defects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125980" y="4069080"/>
            <a:ext cx="15544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2199132" y="4069080"/>
            <a:ext cx="1408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 caps and seals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794760" y="4069080"/>
            <a:ext cx="15544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3867912" y="4069080"/>
            <a:ext cx="1408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Ceramic tiles and glass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63540" y="4069080"/>
            <a:ext cx="15544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5536692" y="4069080"/>
            <a:ext cx="1408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Textile and fabric flaws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132320" y="4069080"/>
            <a:ext cx="15544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7205472" y="4069080"/>
            <a:ext cx="1408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Fasteners and castings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INNOVATION ADVANTAGE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is different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011680"/>
                <a:gridCol w="2011680"/>
                <a:gridCol w="20116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inspection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Commercial vision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InspectAI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6B2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Upfront cost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(lakhs)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(~Rs 7k)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Consistent, all shift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 offline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Vendor-dependent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(edge AI)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defect samples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Usually 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(anomaly model)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Logs defect data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D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840480"/>
            <a:ext cx="2560320" cy="868680"/>
          </a:xfrm>
          <a:prstGeom prst="roundRect">
            <a:avLst>
              <a:gd name="adj" fmla="val 8421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3931920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"good" only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22452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unseen defects without defect samples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291840" y="3840480"/>
            <a:ext cx="2560320" cy="868680"/>
          </a:xfrm>
          <a:prstGeom prst="roundRect">
            <a:avLst>
              <a:gd name="adj" fmla="val 8421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474720" y="3931920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MSMEs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3474720" y="422452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~Rs 10k, offline, simple dashboard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26480" y="3840480"/>
            <a:ext cx="2560320" cy="868680"/>
          </a:xfrm>
          <a:prstGeom prst="roundRect">
            <a:avLst>
              <a:gd name="adj" fmla="val 8421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09360" y="3931920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Swap-a-model design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309360" y="422452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box adapts to new parts by retraining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VISUAL IMPACT AND USER JOURNEY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and after: the inspector's journey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914400" cy="1188720"/>
          </a:xfrm>
          <a:prstGeom prst="roundRect">
            <a:avLst>
              <a:gd name="adj" fmla="val 8000"/>
            </a:avLst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2103120"/>
            <a:ext cx="91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3429000"/>
            <a:ext cx="914400" cy="1188720"/>
          </a:xfrm>
          <a:prstGeom prst="roundRect">
            <a:avLst>
              <a:gd name="adj" fmla="val 8000"/>
            </a:avLst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3429000"/>
            <a:ext cx="91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600200" y="1298448"/>
            <a:ext cx="457200" cy="457200"/>
          </a:xfrm>
          <a:prstGeom prst="ellipse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4500" y="1412748"/>
            <a:ext cx="228600" cy="2286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2148840" y="129844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arrives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508760" y="210312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618488" y="2103120"/>
            <a:ext cx="14721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pile up at the inspection table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1508760" y="342900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E3F4F1"/>
          </a:solidFill>
          <a:ln w="12700">
            <a:solidFill>
              <a:srgbClr val="E3F4F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618488" y="3429000"/>
            <a:ext cx="14721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is placed under the camera in the light box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3429000" y="1298448"/>
            <a:ext cx="457200" cy="457200"/>
          </a:xfrm>
          <a:prstGeom prst="ellipse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300" y="1412748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3977640" y="129844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3337560" y="210312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3447288" y="2103120"/>
            <a:ext cx="14721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 checks each part by eye, hour after hour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3337560" y="342900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E3F4F1"/>
          </a:solidFill>
          <a:ln w="12700">
            <a:solidFill>
              <a:srgbClr val="E3F4F1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3447288" y="3429000"/>
            <a:ext cx="14721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+ AI check in under a second (target)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5257800" y="1298448"/>
            <a:ext cx="457200" cy="457200"/>
          </a:xfrm>
          <a:prstGeom prst="ellipse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2100" y="1412748"/>
            <a:ext cx="228600" cy="22860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5806440" y="129844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5166360" y="210312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5276088" y="2103120"/>
            <a:ext cx="14721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Judgement varies; small defects get missed</a:t>
            </a:r>
            <a:endParaRPr lang="en-US" sz="1250" dirty="0"/>
          </a:p>
        </p:txBody>
      </p:sp>
      <p:sp>
        <p:nvSpPr>
          <p:cNvPr id="27" name="Shape 22"/>
          <p:cNvSpPr/>
          <p:nvPr/>
        </p:nvSpPr>
        <p:spPr>
          <a:xfrm>
            <a:off x="5166360" y="342900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E3F4F1"/>
          </a:solidFill>
          <a:ln w="12700">
            <a:solidFill>
              <a:srgbClr val="E3F4F1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5276088" y="3429000"/>
            <a:ext cx="14721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OK / DEFECT / CHECK verdict; rejects are diverted</a:t>
            </a:r>
            <a:endParaRPr lang="en-US" sz="1250" dirty="0"/>
          </a:p>
        </p:txBody>
      </p:sp>
      <p:sp>
        <p:nvSpPr>
          <p:cNvPr id="29" name="Shape 24"/>
          <p:cNvSpPr/>
          <p:nvPr/>
        </p:nvSpPr>
        <p:spPr>
          <a:xfrm>
            <a:off x="7086600" y="1298448"/>
            <a:ext cx="457200" cy="457200"/>
          </a:xfrm>
          <a:prstGeom prst="ellipse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900" y="1412748"/>
            <a:ext cx="228600" cy="228600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7635240" y="129844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1300" dirty="0"/>
          </a:p>
        </p:txBody>
      </p:sp>
      <p:sp>
        <p:nvSpPr>
          <p:cNvPr id="32" name="Shape 26"/>
          <p:cNvSpPr/>
          <p:nvPr/>
        </p:nvSpPr>
        <p:spPr>
          <a:xfrm>
            <a:off x="6995160" y="210312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7104888" y="2103120"/>
            <a:ext cx="14721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Rarely written down; problems found late</a:t>
            </a:r>
            <a:endParaRPr lang="en-US" sz="1250" dirty="0"/>
          </a:p>
        </p:txBody>
      </p:sp>
      <p:sp>
        <p:nvSpPr>
          <p:cNvPr id="34" name="Shape 28"/>
          <p:cNvSpPr/>
          <p:nvPr/>
        </p:nvSpPr>
        <p:spPr>
          <a:xfrm>
            <a:off x="6995160" y="342900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E3F4F1"/>
          </a:solidFill>
          <a:ln w="12700">
            <a:solidFill>
              <a:srgbClr val="E3F4F1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7104888" y="3429000"/>
            <a:ext cx="14721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part logged; dashboard shows defect trends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1440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quality inspection, within reach of every small factory.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292608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1C2E4A"/>
          </a:solidFill>
          <a:ln w="12700">
            <a:solidFill>
              <a:srgbClr val="1C2E4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29260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cost: ~Rs 7k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240280" y="292608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1C2E4A"/>
          </a:solidFill>
          <a:ln w="12700">
            <a:solidFill>
              <a:srgbClr val="1C2E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331720" y="29260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AI: works offline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931920" y="292608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1C2E4A"/>
          </a:solidFill>
          <a:ln w="12700">
            <a:solidFill>
              <a:srgbClr val="1C2E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023360" y="29260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detection: no defect samples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023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343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Lipi Bagarti  ·  Kartik Ranjan Singh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852160" y="1051560"/>
            <a:ext cx="2834640" cy="2834640"/>
          </a:xfrm>
          <a:prstGeom prst="ellipse">
            <a:avLst/>
          </a:prstGeom>
          <a:solidFill>
            <a:srgbClr val="16263F"/>
          </a:solidFill>
          <a:ln w="19050">
            <a:solidFill>
              <a:srgbClr val="1C2E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46520" y="1645920"/>
            <a:ext cx="1645920" cy="1645920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205740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InspectAI: Low-Cost Defect Inspection for MSMEs</dc:title>
  <dc:subject>PptxGenJS Presentation</dc:subject>
  <dc:creator>Lipi Bagarti, Kartik Ranjan Singh</dc:creator>
  <cp:lastModifiedBy>Lipi Bagarti, Kartik Ranjan Singh</cp:lastModifiedBy>
  <cp:revision>1</cp:revision>
  <dcterms:created xsi:type="dcterms:W3CDTF">2026-09-19T06:08:59Z</dcterms:created>
  <dcterms:modified xsi:type="dcterms:W3CDTF">2026-09-19T06:08:59Z</dcterms:modified>
</cp:coreProperties>
</file>